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247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380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8789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440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321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66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064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9500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160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4836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9179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3058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0156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6107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039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398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CA59A-3596-4AB3-9606-C78C08025BC4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47B11A9-E415-46E5-8249-0E3DB1BF78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7697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70715-5403-9DA2-EA2A-C9F2D54E5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849" y="8683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b="1" dirty="0" err="1"/>
              <a:t>MedAssistAI</a:t>
            </a:r>
            <a:r>
              <a:rPr lang="en-GB" b="1" dirty="0"/>
              <a:t>: An AI-Powered Healthcare Management System for Medication Adherence in Kenya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845AC-4367-3B4A-EDD3-BA2C1426E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40870"/>
            <a:ext cx="9144000" cy="2802987"/>
          </a:xfrm>
        </p:spPr>
        <p:txBody>
          <a:bodyPr>
            <a:normAutofit/>
          </a:bodyPr>
          <a:lstStyle/>
          <a:p>
            <a:r>
              <a:rPr lang="en-CA" b="1" dirty="0"/>
              <a:t>Dylan Fadhili Mada</a:t>
            </a:r>
            <a:br>
              <a:rPr lang="en-CA" dirty="0"/>
            </a:br>
            <a:r>
              <a:rPr lang="en-CA" dirty="0"/>
              <a:t>Supervisor: Lecturer Dennis Kaburu</a:t>
            </a:r>
          </a:p>
          <a:p>
            <a:r>
              <a:rPr lang="en-CA" dirty="0"/>
              <a:t>Department of Information Technology</a:t>
            </a:r>
            <a:br>
              <a:rPr lang="en-CA" dirty="0"/>
            </a:br>
            <a:r>
              <a:rPr lang="en-CA" dirty="0"/>
              <a:t>Jomo Kenyatta University of Agriculture and Technology</a:t>
            </a:r>
          </a:p>
          <a:p>
            <a:r>
              <a:rPr lang="en-CA" b="1" dirty="0"/>
              <a:t>2025/2026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447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0DBA6-B383-7E6E-7521-67C2774D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11"/>
            <a:ext cx="10515600" cy="746223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AGENDA / PRESENTATION OUTLINE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6F75D-8355-75B7-67BF-F93E9915A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8806"/>
            <a:ext cx="10515600" cy="5859194"/>
          </a:xfrm>
        </p:spPr>
        <p:txBody>
          <a:bodyPr>
            <a:normAutofit fontScale="92500" lnSpcReduction="10000"/>
          </a:bodyPr>
          <a:lstStyle/>
          <a:p>
            <a:r>
              <a:rPr lang="en-CA" b="1" dirty="0"/>
              <a:t>What We'll Cover</a:t>
            </a:r>
            <a:endParaRPr lang="en-CA" dirty="0"/>
          </a:p>
          <a:p>
            <a:r>
              <a:rPr lang="en-CA" dirty="0"/>
              <a:t>The Problem: Medication Non-Adherence in Kenya</a:t>
            </a:r>
          </a:p>
          <a:p>
            <a:r>
              <a:rPr lang="en-CA" dirty="0"/>
              <a:t>Our Solution: </a:t>
            </a:r>
            <a:r>
              <a:rPr lang="en-CA" dirty="0" err="1"/>
              <a:t>MedAssistAI</a:t>
            </a:r>
            <a:endParaRPr lang="en-CA" dirty="0"/>
          </a:p>
          <a:p>
            <a:r>
              <a:rPr lang="en-CA" dirty="0"/>
              <a:t>Target Market &amp; Market Size</a:t>
            </a:r>
          </a:p>
          <a:p>
            <a:r>
              <a:rPr lang="en-CA" dirty="0"/>
              <a:t>Competitor Analysis</a:t>
            </a:r>
          </a:p>
          <a:p>
            <a:r>
              <a:rPr lang="en-CA" dirty="0"/>
              <a:t>Competitive Advantage</a:t>
            </a:r>
          </a:p>
          <a:p>
            <a:r>
              <a:rPr lang="en-CA" dirty="0"/>
              <a:t>Business/Revenue Model</a:t>
            </a:r>
          </a:p>
          <a:p>
            <a:r>
              <a:rPr lang="en-CA" dirty="0"/>
              <a:t>Traction &amp; Roadmap</a:t>
            </a:r>
          </a:p>
          <a:p>
            <a:r>
              <a:rPr lang="en-CA" dirty="0"/>
              <a:t>Go-to-Market Strategy</a:t>
            </a:r>
          </a:p>
          <a:p>
            <a:r>
              <a:rPr lang="en-CA" dirty="0"/>
              <a:t>Technology Stack &amp; Architecture</a:t>
            </a:r>
          </a:p>
          <a:p>
            <a:r>
              <a:rPr lang="en-CA" dirty="0"/>
              <a:t>Development Timeline (Gantt Chart)</a:t>
            </a:r>
          </a:p>
          <a:p>
            <a:r>
              <a:rPr lang="en-CA" dirty="0"/>
              <a:t>Financial Projections</a:t>
            </a:r>
          </a:p>
          <a:p>
            <a:r>
              <a:rPr lang="en-CA" dirty="0"/>
              <a:t>Risk Analysis</a:t>
            </a:r>
          </a:p>
          <a:p>
            <a:r>
              <a:rPr lang="en-CA" dirty="0"/>
              <a:t>Team</a:t>
            </a:r>
          </a:p>
          <a:p>
            <a:r>
              <a:rPr lang="en-CA" dirty="0"/>
              <a:t>Conclusion</a:t>
            </a:r>
          </a:p>
          <a:p>
            <a:r>
              <a:rPr lang="en-CA" dirty="0"/>
              <a:t>Q&amp;A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8911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77D1-84E4-D462-06D1-B016D8481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249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THE PROBLEM</a:t>
            </a:r>
            <a:br>
              <a:rPr lang="en-GB" b="1" dirty="0"/>
            </a:br>
            <a:r>
              <a:rPr lang="en-GB" b="1" dirty="0"/>
              <a:t>Medication Non-Adherence in Kenya</a:t>
            </a:r>
            <a:br>
              <a:rPr lang="en-GB" dirty="0"/>
            </a:br>
            <a:endParaRPr lang="en-CA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CA8A626-5199-E4DA-6070-79D24464AE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8616413"/>
              </p:ext>
            </p:extLst>
          </p:nvPr>
        </p:nvGraphicFramePr>
        <p:xfrm>
          <a:off x="838200" y="1167618"/>
          <a:ext cx="7163286" cy="2832100"/>
        </p:xfrm>
        <a:graphic>
          <a:graphicData uri="http://schemas.openxmlformats.org/drawingml/2006/table">
            <a:tbl>
              <a:tblPr/>
              <a:tblGrid>
                <a:gridCol w="3581643">
                  <a:extLst>
                    <a:ext uri="{9D8B030D-6E8A-4147-A177-3AD203B41FA5}">
                      <a16:colId xmlns:a16="http://schemas.microsoft.com/office/drawing/2014/main" val="3119213677"/>
                    </a:ext>
                  </a:extLst>
                </a:gridCol>
                <a:gridCol w="3581643">
                  <a:extLst>
                    <a:ext uri="{9D8B030D-6E8A-4147-A177-3AD203B41FA5}">
                      <a16:colId xmlns:a16="http://schemas.microsoft.com/office/drawing/2014/main" val="598595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Metric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13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Chronic patients not adhering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40-60%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266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Annual cost to healthcare system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KES 15-20 Billion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82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Hospital admissions from NCDs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&gt;50%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301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Deaths from NCDs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55%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222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Kenyans pushed into poverty by health costs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 dirty="0">
                          <a:effectLst/>
                          <a:latin typeface="quote-cjk-patch"/>
                        </a:rPr>
                        <a:t>1 Million annually</a:t>
                      </a:r>
                      <a:endParaRPr lang="en-CA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536310"/>
                  </a:ext>
                </a:extLst>
              </a:tr>
            </a:tbl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5393228F-0CC2-C4F4-2F14-007493EC2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76157" y="-1417626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The Scale of the Crisis: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7BED76-8F50-7519-93F3-D9A0AFF0E1D4}"/>
              </a:ext>
            </a:extLst>
          </p:cNvPr>
          <p:cNvSpPr txBox="1"/>
          <p:nvPr/>
        </p:nvSpPr>
        <p:spPr>
          <a:xfrm>
            <a:off x="838200" y="4246495"/>
            <a:ext cx="1051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Why Patients Don't Adhere:</a:t>
            </a:r>
            <a:endParaRPr lang="en-GB" dirty="0"/>
          </a:p>
          <a:p>
            <a:r>
              <a:rPr lang="en-GB" dirty="0"/>
              <a:t>Forgetfulness (45%)</a:t>
            </a:r>
          </a:p>
          <a:p>
            <a:r>
              <a:rPr lang="en-GB" dirty="0"/>
              <a:t>Cost barriers (38%)</a:t>
            </a:r>
          </a:p>
          <a:p>
            <a:r>
              <a:rPr lang="en-GB" dirty="0"/>
              <a:t>Side effects (22%)</a:t>
            </a:r>
          </a:p>
          <a:p>
            <a:r>
              <a:rPr lang="en-GB" dirty="0"/>
              <a:t>Lack of symptoms (20%)</a:t>
            </a:r>
          </a:p>
          <a:p>
            <a:r>
              <a:rPr lang="en-GB" dirty="0"/>
              <a:t>Distance to facilities</a:t>
            </a:r>
          </a:p>
          <a:p>
            <a:r>
              <a:rPr lang="en-GB" dirty="0"/>
              <a:t>Limited health literacy</a:t>
            </a:r>
          </a:p>
          <a:p>
            <a:br>
              <a:rPr lang="en-GB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25295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F5B806-802C-0E2C-48E2-2D7FCC93AA64}"/>
              </a:ext>
            </a:extLst>
          </p:cNvPr>
          <p:cNvSpPr txBox="1"/>
          <p:nvPr/>
        </p:nvSpPr>
        <p:spPr>
          <a:xfrm>
            <a:off x="239152" y="411480"/>
            <a:ext cx="10789920" cy="603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CA" dirty="0"/>
              <a:t>│                  MEDICATION ADHERENCE IN KENYA                       │</a:t>
            </a:r>
          </a:p>
          <a:p>
            <a:r>
              <a:rPr lang="en-CA" dirty="0"/>
              <a:t>├─────────────────────────────────────────────────────────────────────┤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rPr lang="en-CA" dirty="0"/>
              <a:t>│                                                                                                 │</a:t>
            </a:r>
          </a:p>
          <a:p>
            <a:r>
              <a:rPr lang="en-CA" dirty="0"/>
              <a:t>│  ADHERENCE RATES BY CONDITION                                  │  TOP BARRIERS TO ADHERENCE │</a:t>
            </a:r>
          </a:p>
          <a:p>
            <a:r>
              <a:rPr lang="en-CA" dirty="0"/>
              <a:t>│                                                                                                 │                                                     │</a:t>
            </a:r>
          </a:p>
          <a:p>
            <a:r>
              <a:rPr lang="en-CA" dirty="0"/>
              <a:t>│  HIV/AIDS        ████████████████████ 80%│                Forgetfulness    45%  │</a:t>
            </a:r>
          </a:p>
          <a:p>
            <a:r>
              <a:rPr lang="en-CA" dirty="0"/>
              <a:t>│                                                                                               │       ████████████████     │</a:t>
            </a:r>
          </a:p>
          <a:p>
            <a:r>
              <a:rPr lang="en-CA" dirty="0"/>
              <a:t>│  Hypertension    ██████████████░░░░░░ 52%│                           │</a:t>
            </a:r>
          </a:p>
          <a:p>
            <a:r>
              <a:rPr lang="en-CA" dirty="0"/>
              <a:t>│                                                                                                           │  Cost Barriers    38%  │</a:t>
            </a:r>
          </a:p>
          <a:p>
            <a:r>
              <a:rPr lang="en-CA" dirty="0"/>
              <a:t>│  Diabetes        ██████████░░░░░░░░░░ 38%│      ██████████████       │</a:t>
            </a:r>
          </a:p>
          <a:p>
            <a:r>
              <a:rPr lang="en-CA" dirty="0"/>
              <a:t>│                                                                                                                        │                           │</a:t>
            </a:r>
          </a:p>
          <a:p>
            <a:r>
              <a:rPr lang="en-CA" dirty="0"/>
              <a:t>│  Overall         ██████████████░░░░░░ 50%     │       Side Effects    22%               │</a:t>
            </a:r>
          </a:p>
          <a:p>
            <a:r>
              <a:rPr lang="en-CA" dirty="0"/>
              <a:t>│                                                                                                           │          ███████               │</a:t>
            </a:r>
          </a:p>
          <a:p>
            <a:r>
              <a:rPr lang="en-CA" dirty="0"/>
              <a:t>│                                                                                                                                  │                                                   </a:t>
            </a:r>
          </a:p>
          <a:p>
            <a:r>
              <a:rPr lang="en-CA" dirty="0"/>
              <a:t>│                                                                                                         │   Lack of Symptoms 20%        │</a:t>
            </a:r>
          </a:p>
          <a:p>
            <a:r>
              <a:rPr lang="en-CA" dirty="0"/>
              <a:t>│                                                                                                                     │      ██████                │</a:t>
            </a:r>
          </a:p>
          <a:p>
            <a:r>
              <a:rPr lang="en-CA" dirty="0"/>
              <a:t>│                                                                                                                                  │                                    </a:t>
            </a:r>
          </a:p>
          <a:p>
            <a:r>
              <a:rPr lang="en-CA" dirty="0"/>
              <a:t>│               Source: Gala et al. (2023), Ngugi et al. (2021), Ministry of Health │</a:t>
            </a:r>
          </a:p>
          <a:p>
            <a:r>
              <a:rPr lang="en-CA" dirty="0"/>
              <a:t>│                                                                       │</a:t>
            </a:r>
          </a:p>
          <a:p>
            <a:r>
              <a:rPr lang="en-CA" dirty="0"/>
              <a:t>└─────────────────────────────────────────────────────────────────────┘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7886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862CC-3F04-F4D3-0165-65953071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188"/>
            <a:ext cx="10515600" cy="563343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GAPS IN CURRENT SOLUTIONS</a:t>
            </a:r>
            <a:br>
              <a:rPr lang="en-CA" b="1" dirty="0"/>
            </a:b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38B458-B429-8571-3F29-2BD2D82658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592221"/>
              </p:ext>
            </p:extLst>
          </p:nvPr>
        </p:nvGraphicFramePr>
        <p:xfrm>
          <a:off x="838200" y="845869"/>
          <a:ext cx="7163286" cy="5897943"/>
        </p:xfrm>
        <a:graphic>
          <a:graphicData uri="http://schemas.openxmlformats.org/drawingml/2006/table">
            <a:tbl>
              <a:tblPr/>
              <a:tblGrid>
                <a:gridCol w="3581643">
                  <a:extLst>
                    <a:ext uri="{9D8B030D-6E8A-4147-A177-3AD203B41FA5}">
                      <a16:colId xmlns:a16="http://schemas.microsoft.com/office/drawing/2014/main" val="1973966354"/>
                    </a:ext>
                  </a:extLst>
                </a:gridCol>
                <a:gridCol w="3581643">
                  <a:extLst>
                    <a:ext uri="{9D8B030D-6E8A-4147-A177-3AD203B41FA5}">
                      <a16:colId xmlns:a16="http://schemas.microsoft.com/office/drawing/2014/main" val="4150285284"/>
                    </a:ext>
                  </a:extLst>
                </a:gridCol>
              </a:tblGrid>
              <a:tr h="62550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1" dirty="0">
                          <a:effectLst/>
                          <a:latin typeface="quote-cjk-patch"/>
                        </a:rPr>
                        <a:t>Gap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1" dirty="0">
                          <a:effectLst/>
                          <a:latin typeface="quote-cjk-patch"/>
                        </a:rPr>
                        <a:t>Description</a:t>
                      </a:r>
                    </a:p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CA" b="1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911637"/>
                  </a:ext>
                </a:extLst>
              </a:tr>
              <a:tr h="132460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 dirty="0">
                          <a:effectLst/>
                          <a:latin typeface="quote-cjk-patch"/>
                        </a:rPr>
                        <a:t>Limited Intelligence</a:t>
                      </a:r>
                      <a:endParaRPr lang="en-CA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Generic reminders don't adapt to patient </a:t>
                      </a:r>
                      <a:r>
                        <a:rPr lang="en-GB" b="0" dirty="0" err="1">
                          <a:effectLst/>
                          <a:latin typeface="quote-cjk-patch"/>
                        </a:rPr>
                        <a:t>behavior</a:t>
                      </a:r>
                      <a:r>
                        <a:rPr lang="en-GB" b="0" dirty="0">
                          <a:effectLst/>
                          <a:latin typeface="quote-cjk-patch"/>
                        </a:rPr>
                        <a:t> or detect drug interactions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254982"/>
                  </a:ext>
                </a:extLst>
              </a:tr>
              <a:tr h="97505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 dirty="0">
                          <a:effectLst/>
                          <a:latin typeface="quote-cjk-patch"/>
                        </a:rPr>
                        <a:t>Lack of Personalization</a:t>
                      </a:r>
                      <a:endParaRPr lang="en-CA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No tailoring for language, culture, or socioeconomic factors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760423"/>
                  </a:ext>
                </a:extLst>
              </a:tr>
              <a:tr h="97505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 dirty="0">
                          <a:effectLst/>
                          <a:latin typeface="quote-cjk-patch"/>
                        </a:rPr>
                        <a:t>Poor Local Integration</a:t>
                      </a:r>
                      <a:endParaRPr lang="en-CA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No M-Pesa, no Swahili, not designed for intermittent internet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882568"/>
                  </a:ext>
                </a:extLst>
              </a:tr>
              <a:tr h="97505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Accessibility Barriers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 dirty="0">
                          <a:effectLst/>
                          <a:latin typeface="quote-cjk-patch"/>
                        </a:rPr>
                        <a:t>Require smartphones, constant internet, high digital literacy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086200"/>
                  </a:ext>
                </a:extLst>
              </a:tr>
              <a:tr h="97505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Inadequate Data Governance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 dirty="0">
                          <a:effectLst/>
                          <a:latin typeface="quote-cjk-patch"/>
                        </a:rPr>
                        <a:t>Poor security, non-compliance with Kenya's Data Protection Act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461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71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0497B-E804-F437-D185-BA3997A52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697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OUR SOLUTION - MEDASSISTAI</a:t>
            </a:r>
            <a:br>
              <a:rPr lang="en-GB" b="1" dirty="0"/>
            </a:br>
            <a:r>
              <a:rPr lang="en-GB" b="1" dirty="0"/>
              <a:t>An AI-Powered Healthcare Management System</a:t>
            </a:r>
            <a:br>
              <a:rPr lang="en-GB" b="1" dirty="0"/>
            </a:br>
            <a:r>
              <a:rPr lang="en-GB" sz="2200" b="1" dirty="0"/>
              <a:t>Showing Dual AI Architecture:</a:t>
            </a:r>
            <a:br>
              <a:rPr lang="en-GB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56E60-9859-EDA7-E684-C0CD66A18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819422"/>
            <a:ext cx="10515600" cy="5430129"/>
          </a:xfrm>
        </p:spPr>
        <p:txBody>
          <a:bodyPr>
            <a:normAutofit fontScale="40000" lnSpcReduction="20000"/>
          </a:bodyPr>
          <a:lstStyle/>
          <a:p>
            <a:r>
              <a:rPr lang="en-CA" dirty="0"/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CA" dirty="0"/>
              <a:t>│                    USER REQUEST                              │</a:t>
            </a:r>
          </a:p>
          <a:p>
            <a:r>
              <a:rPr lang="en-CA" dirty="0"/>
              <a:t>└──────────────────────────┬──────────────────────────────────┘</a:t>
            </a:r>
          </a:p>
          <a:p>
            <a:r>
              <a:rPr lang="en-CA" dirty="0"/>
              <a:t>                           │</a:t>
            </a:r>
          </a:p>
          <a:p>
            <a:r>
              <a:rPr lang="en-CA" dirty="0"/>
              <a:t>                           ▼</a:t>
            </a:r>
          </a:p>
          <a:p>
            <a:r>
              <a:rPr lang="en-CA" dirty="0"/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CA" dirty="0"/>
              <a:t>│               INTELLIGENT ROUTING LAYER                      │</a:t>
            </a:r>
          </a:p>
          <a:p>
            <a:r>
              <a:rPr lang="en-CA" dirty="0"/>
              <a:t>│           (Health Check + Context Analysis)                  │</a:t>
            </a:r>
          </a:p>
          <a:p>
            <a:r>
              <a:rPr lang="en-CA" dirty="0"/>
              <a:t>└──────────────┬──────────────────────────────┬───────────────┘</a:t>
            </a:r>
          </a:p>
          <a:p>
            <a:r>
              <a:rPr lang="en-CA" dirty="0"/>
              <a:t>               │                              │</a:t>
            </a:r>
          </a:p>
          <a:p>
            <a:r>
              <a:rPr lang="en-CA" dirty="0"/>
              <a:t>               ▼                              ▼</a:t>
            </a:r>
          </a:p>
          <a:p>
            <a:r>
              <a:rPr lang="en-CA" dirty="0"/>
              <a:t>    ┌───────────────────┐            ┌───────────────────┐</a:t>
            </a:r>
          </a:p>
          <a:p>
            <a:r>
              <a:rPr lang="en-CA" dirty="0"/>
              <a:t>    │   PRIMARY PATH    │            │   BACKUP PATH     │</a:t>
            </a:r>
          </a:p>
          <a:p>
            <a:r>
              <a:rPr lang="en-CA" dirty="0"/>
              <a:t>    │  ┌─────────────┐  │            │  ┌─────────────┐  │</a:t>
            </a:r>
          </a:p>
          <a:p>
            <a:r>
              <a:rPr lang="en-CA" dirty="0"/>
              <a:t>    │  │  FADHILI AI │  │  (if fails)│  │   GEMINI    │  │</a:t>
            </a:r>
          </a:p>
          <a:p>
            <a:r>
              <a:rPr lang="en-CA" dirty="0"/>
              <a:t>    │  │  (Custom)   │◄─┼────────────┼─►│   API       │  │</a:t>
            </a:r>
          </a:p>
          <a:p>
            <a:r>
              <a:rPr lang="en-CA" dirty="0"/>
              <a:t>    │  └─────────────┘  │            │  └─────────────┘  │</a:t>
            </a:r>
          </a:p>
          <a:p>
            <a:r>
              <a:rPr lang="en-CA" dirty="0"/>
              <a:t>    └───────────────────┘            └───────────────────┘</a:t>
            </a:r>
          </a:p>
          <a:p>
            <a:r>
              <a:rPr lang="en-CA" dirty="0"/>
              <a:t>               │                              │</a:t>
            </a:r>
          </a:p>
          <a:p>
            <a:r>
              <a:rPr lang="en-CA" dirty="0"/>
              <a:t>               └──────────────┬───────────────┘</a:t>
            </a:r>
          </a:p>
          <a:p>
            <a:r>
              <a:rPr lang="en-CA" dirty="0"/>
              <a:t>                              ▼</a:t>
            </a:r>
          </a:p>
          <a:p>
            <a:r>
              <a:rPr lang="en-CA" dirty="0"/>
              <a:t>                    ┌───────────────────┐</a:t>
            </a:r>
          </a:p>
          <a:p>
            <a:r>
              <a:rPr lang="en-CA" dirty="0"/>
              <a:t>                    │ UNIFIED RESPONSE  │</a:t>
            </a:r>
          </a:p>
          <a:p>
            <a:r>
              <a:rPr lang="en-CA" dirty="0"/>
              <a:t>                    └───────────────────┘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12135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EC1306-D92B-5874-47EE-89B4C114EB85}"/>
              </a:ext>
            </a:extLst>
          </p:cNvPr>
          <p:cNvSpPr txBox="1"/>
          <p:nvPr/>
        </p:nvSpPr>
        <p:spPr>
          <a:xfrm>
            <a:off x="379829" y="731520"/>
            <a:ext cx="889078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Core Features:</a:t>
            </a:r>
            <a:endParaRPr lang="en-GB" sz="44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400" dirty="0"/>
              <a:t>Personalized medication reminders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400" dirty="0"/>
              <a:t>Real-time drug interaction warnings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400" dirty="0"/>
              <a:t>English &amp; Swahili support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400" dirty="0"/>
              <a:t>SMS fallback for offline users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400" dirty="0"/>
              <a:t>M-Pesa payment reminders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4400" dirty="0"/>
              <a:t>Health tracking dashboard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60381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FCB-BD9B-7E07-FEDE-E29B7029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2832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TARGET MARKET</a:t>
            </a:r>
            <a:br>
              <a:rPr lang="en-GB" b="1" dirty="0"/>
            </a:br>
            <a:r>
              <a:rPr lang="en-GB" b="1" dirty="0"/>
              <a:t>Who Will Use </a:t>
            </a:r>
            <a:r>
              <a:rPr lang="en-GB" b="1" dirty="0" err="1"/>
              <a:t>MedAssistAI</a:t>
            </a:r>
            <a:r>
              <a:rPr lang="en-GB" b="1" dirty="0"/>
              <a:t>?</a:t>
            </a:r>
            <a:br>
              <a:rPr lang="en-GB" dirty="0"/>
            </a:b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CBAD86-3A59-CBCF-0D2C-530087ED0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824562"/>
              </p:ext>
            </p:extLst>
          </p:nvPr>
        </p:nvGraphicFramePr>
        <p:xfrm>
          <a:off x="838200" y="1237958"/>
          <a:ext cx="7163286" cy="2933700"/>
        </p:xfrm>
        <a:graphic>
          <a:graphicData uri="http://schemas.openxmlformats.org/drawingml/2006/table">
            <a:tbl>
              <a:tblPr/>
              <a:tblGrid>
                <a:gridCol w="2387762">
                  <a:extLst>
                    <a:ext uri="{9D8B030D-6E8A-4147-A177-3AD203B41FA5}">
                      <a16:colId xmlns:a16="http://schemas.microsoft.com/office/drawing/2014/main" val="2690607426"/>
                    </a:ext>
                  </a:extLst>
                </a:gridCol>
                <a:gridCol w="2387762">
                  <a:extLst>
                    <a:ext uri="{9D8B030D-6E8A-4147-A177-3AD203B41FA5}">
                      <a16:colId xmlns:a16="http://schemas.microsoft.com/office/drawing/2014/main" val="2594505375"/>
                    </a:ext>
                  </a:extLst>
                </a:gridCol>
                <a:gridCol w="2387762">
                  <a:extLst>
                    <a:ext uri="{9D8B030D-6E8A-4147-A177-3AD203B41FA5}">
                      <a16:colId xmlns:a16="http://schemas.microsoft.com/office/drawing/2014/main" val="27918706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User Group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Size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238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Primary: Chronic Disease Patients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Adults with hypertension, diabetes, HIV, asthma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~10 Million Kenyans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124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Secondary: Caregivers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b="0">
                          <a:effectLst/>
                          <a:latin typeface="quote-cjk-patch"/>
                        </a:rPr>
                        <a:t>Family members assisting with medication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~3 Million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223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Tertiary: Healthcare Providers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Doctors, clinical officers, pharmacists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 dirty="0">
                          <a:effectLst/>
                          <a:latin typeface="quote-cjk-patch"/>
                        </a:rPr>
                        <a:t>~20,000 facilities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4791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91F259-E262-1E19-915A-126CA50C787B}"/>
              </a:ext>
            </a:extLst>
          </p:cNvPr>
          <p:cNvSpPr txBox="1"/>
          <p:nvPr/>
        </p:nvSpPr>
        <p:spPr>
          <a:xfrm>
            <a:off x="838200" y="4586067"/>
            <a:ext cx="78443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User Demographics:</a:t>
            </a:r>
            <a:endParaRPr lang="en-CA" dirty="0"/>
          </a:p>
          <a:p>
            <a:r>
              <a:rPr lang="en-CA" dirty="0"/>
              <a:t>Age: 18-70+ years</a:t>
            </a:r>
          </a:p>
          <a:p>
            <a:r>
              <a:rPr lang="en-CA" dirty="0"/>
              <a:t>Location: Urban (50%), Peri-urban (30%), Rural (20%)</a:t>
            </a:r>
          </a:p>
          <a:p>
            <a:r>
              <a:rPr lang="en-CA" dirty="0"/>
              <a:t>Phone access: 93% own mobile phones</a:t>
            </a:r>
          </a:p>
          <a:p>
            <a:r>
              <a:rPr lang="en-CA" dirty="0"/>
              <a:t>Smartphone ownership: 75%</a:t>
            </a:r>
          </a:p>
          <a:p>
            <a:r>
              <a:rPr lang="en-CA" dirty="0"/>
              <a:t>Internet access: 60% (intermittent)</a:t>
            </a:r>
          </a:p>
          <a:p>
            <a:r>
              <a:rPr lang="en-CA" dirty="0"/>
              <a:t>Language preference: 55% English + Swahili, 25% Swahili only</a:t>
            </a:r>
          </a:p>
          <a:p>
            <a:r>
              <a:rPr lang="en-CA" dirty="0"/>
              <a:t>M-Pesa users: 90%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1537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EEE5B-6B1F-DF2A-4E21-06FC4DDF2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59" y="-190231"/>
            <a:ext cx="10515600" cy="380462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MARKET SIZE</a:t>
            </a:r>
            <a:br>
              <a:rPr lang="en-GB" b="1" dirty="0"/>
            </a:br>
            <a:r>
              <a:rPr lang="en-GB" b="1" dirty="0"/>
              <a:t>Total Addressable Market</a:t>
            </a:r>
            <a:br>
              <a:rPr lang="en-GB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24277-5513-C6F6-9804-9D96EFA1D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659" y="900333"/>
            <a:ext cx="5370341" cy="6231986"/>
          </a:xfrm>
        </p:spPr>
        <p:txBody>
          <a:bodyPr>
            <a:normAutofit fontScale="40000" lnSpcReduction="20000"/>
          </a:bodyPr>
          <a:lstStyle/>
          <a:p>
            <a:r>
              <a:rPr lang="en-CA" dirty="0"/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CA" dirty="0"/>
              <a:t>│                    MARKET SIZE ANALYSIS                      │</a:t>
            </a:r>
          </a:p>
          <a:p>
            <a:r>
              <a:rPr lang="en-CA" dirty="0"/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rPr lang="en-CA" dirty="0"/>
              <a:t>│                                                              │</a:t>
            </a:r>
          </a:p>
          <a:p>
            <a:r>
              <a:rPr lang="en-CA" dirty="0"/>
              <a:t>│  Total Addressable Market (TAM)                              │</a:t>
            </a:r>
          </a:p>
          <a:p>
            <a:r>
              <a:rPr lang="en-CA" dirty="0"/>
              <a:t>│  ┌──────────────────────────────────────────────────────┐  │</a:t>
            </a:r>
          </a:p>
          <a:p>
            <a:r>
              <a:rPr lang="en-CA" dirty="0"/>
              <a:t>│  │  All chronic disease patients in Kenya               │  │</a:t>
            </a:r>
          </a:p>
          <a:p>
            <a:r>
              <a:rPr lang="en-CA" dirty="0"/>
              <a:t>│  │  ≈ 10 Million people                                 │  │</a:t>
            </a:r>
          </a:p>
          <a:p>
            <a:r>
              <a:rPr lang="en-CA" dirty="0"/>
              <a:t>│  └──────────────────────────────────────────────────────┘  │</a:t>
            </a:r>
          </a:p>
          <a:p>
            <a:r>
              <a:rPr lang="en-CA" dirty="0"/>
              <a:t>│                           │                                 │</a:t>
            </a:r>
          </a:p>
          <a:p>
            <a:r>
              <a:rPr lang="en-CA" dirty="0"/>
              <a:t>│                           ▼                                 │</a:t>
            </a:r>
          </a:p>
          <a:p>
            <a:r>
              <a:rPr lang="en-CA" dirty="0"/>
              <a:t>│  Serviceable Available Market (SAM)                         │</a:t>
            </a:r>
          </a:p>
          <a:p>
            <a:r>
              <a:rPr lang="en-CA" dirty="0"/>
              <a:t>│  ┌──────────────────────────────────────────────────────┐  │</a:t>
            </a:r>
          </a:p>
          <a:p>
            <a:r>
              <a:rPr lang="en-CA" dirty="0"/>
              <a:t>│  │  Patients with mobile phones who need adherence      │  │</a:t>
            </a:r>
          </a:p>
          <a:p>
            <a:r>
              <a:rPr lang="en-CA" dirty="0"/>
              <a:t>│  │  support ≈ 5 Million                                 │  │</a:t>
            </a:r>
          </a:p>
          <a:p>
            <a:r>
              <a:rPr lang="en-CA" dirty="0"/>
              <a:t>│  └──────────────────────────────────────────────────────┘  │</a:t>
            </a:r>
          </a:p>
          <a:p>
            <a:r>
              <a:rPr lang="en-CA" dirty="0"/>
              <a:t>│                           │                                 │</a:t>
            </a:r>
          </a:p>
          <a:p>
            <a:r>
              <a:rPr lang="en-CA" dirty="0"/>
              <a:t>│                           ▼                                 │</a:t>
            </a:r>
          </a:p>
          <a:p>
            <a:r>
              <a:rPr lang="en-CA" dirty="0"/>
              <a:t>│  Serviceable Obtainable Market (SOM)                        │</a:t>
            </a:r>
          </a:p>
          <a:p>
            <a:r>
              <a:rPr lang="en-CA" dirty="0"/>
              <a:t>│  ┌──────────────────────────────────────────────────────┐  │</a:t>
            </a:r>
          </a:p>
          <a:p>
            <a:r>
              <a:rPr lang="en-CA" dirty="0"/>
              <a:t>│  │  Early adopters reachable in first 2 years           │  │</a:t>
            </a:r>
          </a:p>
          <a:p>
            <a:r>
              <a:rPr lang="en-CA" dirty="0"/>
              <a:t>│  │  ≈ 500,000 users                                     │  │</a:t>
            </a:r>
          </a:p>
          <a:p>
            <a:r>
              <a:rPr lang="en-CA" dirty="0"/>
              <a:t>│  └──────────────────────────────────────────────────────┘  │</a:t>
            </a:r>
          </a:p>
          <a:p>
            <a:r>
              <a:rPr lang="en-CA" dirty="0"/>
              <a:t>│                                                              │</a:t>
            </a:r>
          </a:p>
          <a:p>
            <a:r>
              <a:rPr lang="en-CA" dirty="0"/>
              <a:t>│  Annual Revenue Potential (at scale): KES 1.2 Billion       │</a:t>
            </a:r>
          </a:p>
          <a:p>
            <a:r>
              <a:rPr lang="en-CA" dirty="0"/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070BE-8628-BFD9-B820-01AC09F3A4BC}"/>
              </a:ext>
            </a:extLst>
          </p:cNvPr>
          <p:cNvSpPr txBox="1"/>
          <p:nvPr/>
        </p:nvSpPr>
        <p:spPr>
          <a:xfrm>
            <a:off x="6949440" y="900333"/>
            <a:ext cx="488148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Key Market Drivers:</a:t>
            </a:r>
            <a:endParaRPr lang="en-GB" sz="3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3200" dirty="0"/>
              <a:t>Rising NCD burden (50% of hospital admissions)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3200" dirty="0"/>
              <a:t>Government UHC agenda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3200" dirty="0"/>
              <a:t>Mobile penetration (65M subscriptions)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3200" dirty="0"/>
              <a:t>Digital health adoption accelerated by COVID-19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3668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66F7-0B05-FE40-093E-6D1CE8C3D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88" y="282714"/>
            <a:ext cx="10515600" cy="450801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 COMPETITOR ANALYSIS</a:t>
            </a:r>
            <a:br>
              <a:rPr lang="en-CA" b="1" dirty="0"/>
            </a:br>
            <a:endParaRPr lang="en-CA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7E118D1-97AC-8A05-E488-C18C4C872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1182291"/>
              </p:ext>
            </p:extLst>
          </p:nvPr>
        </p:nvGraphicFramePr>
        <p:xfrm>
          <a:off x="838200" y="1267668"/>
          <a:ext cx="7163286" cy="3556000"/>
        </p:xfrm>
        <a:graphic>
          <a:graphicData uri="http://schemas.openxmlformats.org/drawingml/2006/table">
            <a:tbl>
              <a:tblPr/>
              <a:tblGrid>
                <a:gridCol w="2387762">
                  <a:extLst>
                    <a:ext uri="{9D8B030D-6E8A-4147-A177-3AD203B41FA5}">
                      <a16:colId xmlns:a16="http://schemas.microsoft.com/office/drawing/2014/main" val="3176560201"/>
                    </a:ext>
                  </a:extLst>
                </a:gridCol>
                <a:gridCol w="2387762">
                  <a:extLst>
                    <a:ext uri="{9D8B030D-6E8A-4147-A177-3AD203B41FA5}">
                      <a16:colId xmlns:a16="http://schemas.microsoft.com/office/drawing/2014/main" val="2153773466"/>
                    </a:ext>
                  </a:extLst>
                </a:gridCol>
                <a:gridCol w="2387762">
                  <a:extLst>
                    <a:ext uri="{9D8B030D-6E8A-4147-A177-3AD203B41FA5}">
                      <a16:colId xmlns:a16="http://schemas.microsoft.com/office/drawing/2014/main" val="2995848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Solution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Key Features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Limitations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75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M-TIBA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Mobile wallet, health payments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it-IT" b="0">
                          <a:effectLst/>
                          <a:latin typeface="quote-cjk-patch"/>
                        </a:rPr>
                        <a:t>No AI, no adherence support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12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MyDawa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Online pharmacy, teleconsultation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Basic reminders, no personalization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63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AfyaPap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SMS health information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it-IT" b="0">
                          <a:effectLst/>
                          <a:latin typeface="quote-cjk-patch"/>
                        </a:rPr>
                        <a:t>No AI, no interaction checks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078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Medisafe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International reminder app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No M-Pesa, no Swahili, expensive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56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MyTherapy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Tracking and reports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 dirty="0">
                          <a:effectLst/>
                          <a:latin typeface="quote-cjk-patch"/>
                        </a:rPr>
                        <a:t>Not Kenya-specific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88812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88F3F9C3-B946-DD26-0E67-EE40A5820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76157" y="-4508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F29C5-016E-1C7D-093E-22A1FB336D3B}"/>
              </a:ext>
            </a:extLst>
          </p:cNvPr>
          <p:cNvSpPr txBox="1"/>
          <p:nvPr/>
        </p:nvSpPr>
        <p:spPr>
          <a:xfrm>
            <a:off x="942535" y="5219114"/>
            <a:ext cx="7582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The Gap:</a:t>
            </a:r>
            <a:r>
              <a:rPr lang="en-CA" dirty="0"/>
              <a:t> None combine </a:t>
            </a:r>
            <a:r>
              <a:rPr lang="en-CA" b="1" dirty="0"/>
              <a:t>custom AI + local integration + affordability + reliability</a:t>
            </a:r>
            <a:br>
              <a:rPr lang="en-CA" dirty="0"/>
            </a:b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7D4C20-36A3-BBA9-EB3D-E26BE3F1AEE7}"/>
              </a:ext>
            </a:extLst>
          </p:cNvPr>
          <p:cNvSpPr txBox="1"/>
          <p:nvPr/>
        </p:nvSpPr>
        <p:spPr>
          <a:xfrm>
            <a:off x="1083212" y="590525"/>
            <a:ext cx="5012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Who Else Is in the Market?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91326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1B350-6BD0-0386-D53B-83DE0C196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3028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COMPETITIVE ADVANTAGE</a:t>
            </a:r>
            <a:br>
              <a:rPr lang="en-CA" b="1" dirty="0"/>
            </a:b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A62F29-45D6-F234-84A6-997C369386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050479"/>
              </p:ext>
            </p:extLst>
          </p:nvPr>
        </p:nvGraphicFramePr>
        <p:xfrm>
          <a:off x="965060" y="925832"/>
          <a:ext cx="6295425" cy="4791440"/>
        </p:xfrm>
        <a:graphic>
          <a:graphicData uri="http://schemas.openxmlformats.org/drawingml/2006/table">
            <a:tbl>
              <a:tblPr/>
              <a:tblGrid>
                <a:gridCol w="2098475">
                  <a:extLst>
                    <a:ext uri="{9D8B030D-6E8A-4147-A177-3AD203B41FA5}">
                      <a16:colId xmlns:a16="http://schemas.microsoft.com/office/drawing/2014/main" val="3969902871"/>
                    </a:ext>
                  </a:extLst>
                </a:gridCol>
                <a:gridCol w="2098475">
                  <a:extLst>
                    <a:ext uri="{9D8B030D-6E8A-4147-A177-3AD203B41FA5}">
                      <a16:colId xmlns:a16="http://schemas.microsoft.com/office/drawing/2014/main" val="1586609184"/>
                    </a:ext>
                  </a:extLst>
                </a:gridCol>
                <a:gridCol w="2098475">
                  <a:extLst>
                    <a:ext uri="{9D8B030D-6E8A-4147-A177-3AD203B41FA5}">
                      <a16:colId xmlns:a16="http://schemas.microsoft.com/office/drawing/2014/main" val="880223438"/>
                    </a:ext>
                  </a:extLst>
                </a:gridCol>
              </a:tblGrid>
              <a:tr h="59155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sz="1600" b="0">
                          <a:effectLst/>
                          <a:latin typeface="quote-cjk-patch"/>
                        </a:rPr>
                        <a:t>Feature</a:t>
                      </a:r>
                    </a:p>
                  </a:txBody>
                  <a:tcPr marL="80362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sz="1600" b="0">
                          <a:effectLst/>
                          <a:latin typeface="quote-cjk-patch"/>
                        </a:rPr>
                        <a:t>Competitors</a:t>
                      </a:r>
                    </a:p>
                  </a:txBody>
                  <a:tcPr marL="133936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sz="1600" b="0">
                          <a:effectLst/>
                          <a:latin typeface="quote-cjk-patch"/>
                        </a:rPr>
                        <a:t>MedAssistAI Advantage</a:t>
                      </a:r>
                    </a:p>
                  </a:txBody>
                  <a:tcPr marL="133936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865542"/>
                  </a:ext>
                </a:extLst>
              </a:tr>
              <a:tr h="5915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1">
                          <a:effectLst/>
                          <a:latin typeface="quote-cjk-patch"/>
                        </a:rPr>
                        <a:t>AI Engine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80362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0">
                          <a:effectLst/>
                          <a:latin typeface="quote-cjk-patch"/>
                        </a:rPr>
                        <a:t>Generic APIs</a:t>
                      </a:r>
                    </a:p>
                  </a:txBody>
                  <a:tcPr marL="133936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1">
                          <a:effectLst/>
                          <a:latin typeface="quote-cjk-patch"/>
                        </a:rPr>
                        <a:t>Fadhili AI</a:t>
                      </a:r>
                      <a:r>
                        <a:rPr lang="en-CA" sz="1600" b="0">
                          <a:effectLst/>
                          <a:latin typeface="quote-cjk-patch"/>
                        </a:rPr>
                        <a:t> - custom-built for Kenya</a:t>
                      </a:r>
                    </a:p>
                  </a:txBody>
                  <a:tcPr marL="133936" marR="80362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775181"/>
                  </a:ext>
                </a:extLst>
              </a:tr>
              <a:tr h="10156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1">
                          <a:effectLst/>
                          <a:latin typeface="quote-cjk-patch"/>
                        </a:rPr>
                        <a:t>Reliability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80362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0">
                          <a:effectLst/>
                          <a:latin typeface="quote-cjk-patch"/>
                        </a:rPr>
                        <a:t>Single point of failure</a:t>
                      </a:r>
                    </a:p>
                  </a:txBody>
                  <a:tcPr marL="133936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>
                          <a:effectLst/>
                          <a:latin typeface="quote-cjk-patch"/>
                        </a:rPr>
                        <a:t>Dual-AI with automatic failover</a:t>
                      </a:r>
                      <a:r>
                        <a:rPr lang="en-GB" sz="1600" b="0">
                          <a:effectLst/>
                          <a:latin typeface="quote-cjk-patch"/>
                        </a:rPr>
                        <a:t> (99.5% uptime)</a:t>
                      </a:r>
                    </a:p>
                  </a:txBody>
                  <a:tcPr marL="133936" marR="80362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379338"/>
                  </a:ext>
                </a:extLst>
              </a:tr>
              <a:tr h="5915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1">
                          <a:effectLst/>
                          <a:latin typeface="quote-cjk-patch"/>
                        </a:rPr>
                        <a:t>Local Integration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80362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0" dirty="0">
                          <a:effectLst/>
                          <a:latin typeface="quote-cjk-patch"/>
                        </a:rPr>
                        <a:t>Limited</a:t>
                      </a:r>
                    </a:p>
                  </a:txBody>
                  <a:tcPr marL="133936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1">
                          <a:effectLst/>
                          <a:latin typeface="quote-cjk-patch"/>
                        </a:rPr>
                        <a:t>M-Pesa + Swahili + SMS fallback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33936" marR="80362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204441"/>
                  </a:ext>
                </a:extLst>
              </a:tr>
              <a:tr h="5915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1">
                          <a:effectLst/>
                          <a:latin typeface="quote-cjk-patch"/>
                        </a:rPr>
                        <a:t>Accessibility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80362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0">
                          <a:effectLst/>
                          <a:latin typeface="quote-cjk-patch"/>
                        </a:rPr>
                        <a:t>Internet-dependent</a:t>
                      </a:r>
                    </a:p>
                  </a:txBody>
                  <a:tcPr marL="133936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>
                          <a:effectLst/>
                          <a:latin typeface="quote-cjk-patch"/>
                        </a:rPr>
                        <a:t>Works on basic phones via SMS</a:t>
                      </a:r>
                      <a:endParaRPr lang="en-GB" sz="1600" b="0">
                        <a:effectLst/>
                        <a:latin typeface="quote-cjk-patch"/>
                      </a:endParaRPr>
                    </a:p>
                  </a:txBody>
                  <a:tcPr marL="133936" marR="80362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321719"/>
                  </a:ext>
                </a:extLst>
              </a:tr>
              <a:tr h="37948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1">
                          <a:effectLst/>
                          <a:latin typeface="quote-cjk-patch"/>
                        </a:rPr>
                        <a:t>Cost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80362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0">
                          <a:effectLst/>
                          <a:latin typeface="quote-cjk-patch"/>
                        </a:rPr>
                        <a:t>KES 200-1,200/month</a:t>
                      </a:r>
                    </a:p>
                  </a:txBody>
                  <a:tcPr marL="133936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1">
                          <a:effectLst/>
                          <a:latin typeface="quote-cjk-patch"/>
                        </a:rPr>
                        <a:t>Free core features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133936" marR="80362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60643"/>
                  </a:ext>
                </a:extLst>
              </a:tr>
              <a:tr h="5915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1">
                          <a:effectLst/>
                          <a:latin typeface="quote-cjk-patch"/>
                        </a:rPr>
                        <a:t>Data Governance</a:t>
                      </a:r>
                      <a:endParaRPr lang="en-CA" sz="1600" b="0">
                        <a:effectLst/>
                        <a:latin typeface="quote-cjk-patch"/>
                      </a:endParaRPr>
                    </a:p>
                  </a:txBody>
                  <a:tcPr marL="80362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600" b="0">
                          <a:effectLst/>
                          <a:latin typeface="quote-cjk-patch"/>
                        </a:rPr>
                        <a:t>Often non-compliant</a:t>
                      </a:r>
                    </a:p>
                  </a:txBody>
                  <a:tcPr marL="133936" marR="133936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dirty="0">
                          <a:effectLst/>
                          <a:latin typeface="quote-cjk-patch"/>
                        </a:rPr>
                        <a:t>Built for Kenya Data Protection Act</a:t>
                      </a:r>
                      <a:endParaRPr lang="en-GB" sz="1600" b="0" dirty="0">
                        <a:effectLst/>
                        <a:latin typeface="quote-cjk-patch"/>
                      </a:endParaRPr>
                    </a:p>
                  </a:txBody>
                  <a:tcPr marL="133936" marR="80362" marT="83710" marB="83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6281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07DC42D-D242-6337-4EC3-FBB3A2DE4FA0}"/>
              </a:ext>
            </a:extLst>
          </p:cNvPr>
          <p:cNvSpPr txBox="1"/>
          <p:nvPr/>
        </p:nvSpPr>
        <p:spPr>
          <a:xfrm>
            <a:off x="731520" y="5753686"/>
            <a:ext cx="8314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Unique Value Proposition:</a:t>
            </a:r>
            <a:br>
              <a:rPr lang="en-GB" dirty="0"/>
            </a:br>
            <a:r>
              <a:rPr lang="en-GB" i="1" dirty="0"/>
              <a:t>"The first AI-powered medication adherence system built specifically for Kenya, combining custom intelligence with local infrastructure and guaranteed reliability."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07968-45CF-210E-14CB-44FA213DB4CA}"/>
              </a:ext>
            </a:extLst>
          </p:cNvPr>
          <p:cNvSpPr txBox="1"/>
          <p:nvPr/>
        </p:nvSpPr>
        <p:spPr>
          <a:xfrm>
            <a:off x="965060" y="681038"/>
            <a:ext cx="5130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Why </a:t>
            </a:r>
            <a:r>
              <a:rPr lang="en-CA" b="1" dirty="0" err="1"/>
              <a:t>MedAssistAI</a:t>
            </a:r>
            <a:r>
              <a:rPr lang="en-CA" b="1" dirty="0"/>
              <a:t> Wins?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32796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0801-92C1-159D-C2ED-EB5D0DC9D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704"/>
            <a:ext cx="10515600" cy="591478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BUSINESS / REVENUE MODEL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61BE7-3D4D-9E89-A7A1-523AF9561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9656"/>
            <a:ext cx="6114143" cy="6098344"/>
          </a:xfrm>
        </p:spPr>
        <p:txBody>
          <a:bodyPr>
            <a:normAutofit/>
          </a:bodyPr>
          <a:lstStyle/>
          <a:p>
            <a:r>
              <a:rPr lang="en-GB" b="1" dirty="0"/>
              <a:t>FREE TIER (80% of users)</a:t>
            </a:r>
          </a:p>
          <a:p>
            <a:r>
              <a:rPr lang="en-GB" dirty="0"/>
              <a:t>Basic medication reminders</a:t>
            </a:r>
          </a:p>
          <a:p>
            <a:r>
              <a:rPr lang="en-GB" dirty="0"/>
              <a:t>SMS notifications</a:t>
            </a:r>
          </a:p>
          <a:p>
            <a:r>
              <a:rPr lang="en-GB" dirty="0"/>
              <a:t>English/Swahili support</a:t>
            </a:r>
          </a:p>
          <a:p>
            <a:r>
              <a:rPr lang="en-GB" dirty="0"/>
              <a:t>Ad-supported</a:t>
            </a:r>
          </a:p>
          <a:p>
            <a:r>
              <a:rPr lang="en-GB" b="1" dirty="0"/>
              <a:t>PREMIUM TIER (15% of users) - KES 200/month</a:t>
            </a:r>
          </a:p>
          <a:p>
            <a:r>
              <a:rPr lang="en-GB" dirty="0"/>
              <a:t>AI-powered personalized reminders</a:t>
            </a:r>
          </a:p>
          <a:p>
            <a:r>
              <a:rPr lang="en-GB" dirty="0"/>
              <a:t>Drug interaction checking</a:t>
            </a:r>
          </a:p>
          <a:p>
            <a:r>
              <a:rPr lang="en-GB" dirty="0"/>
              <a:t>Health analytics dashboard</a:t>
            </a:r>
          </a:p>
          <a:p>
            <a:r>
              <a:rPr lang="en-GB" dirty="0"/>
              <a:t>Caregiver monitoring</a:t>
            </a:r>
          </a:p>
          <a:p>
            <a:r>
              <a:rPr lang="en-GB" dirty="0"/>
              <a:t>Priority support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A85FEC-5D1D-B463-2E33-FCD8149B115C}"/>
              </a:ext>
            </a:extLst>
          </p:cNvPr>
          <p:cNvSpPr txBox="1"/>
          <p:nvPr/>
        </p:nvSpPr>
        <p:spPr>
          <a:xfrm>
            <a:off x="6400799" y="956604"/>
            <a:ext cx="596537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ENTERPRISE TIER (5% of users)</a:t>
            </a:r>
          </a:p>
          <a:p>
            <a:r>
              <a:rPr lang="en-GB" sz="2800" dirty="0"/>
              <a:t>Clinic/hospital dashboards</a:t>
            </a:r>
          </a:p>
          <a:p>
            <a:r>
              <a:rPr lang="en-GB" sz="2800" dirty="0"/>
              <a:t>Bulk patient monitoring</a:t>
            </a:r>
          </a:p>
          <a:p>
            <a:r>
              <a:rPr lang="en-GB" sz="2800" dirty="0"/>
              <a:t>API access for integration</a:t>
            </a:r>
          </a:p>
          <a:p>
            <a:r>
              <a:rPr lang="en-GB" sz="2800" dirty="0"/>
              <a:t>Custom pricing</a:t>
            </a:r>
          </a:p>
          <a:p>
            <a:endParaRPr lang="en-GB" sz="2800" dirty="0"/>
          </a:p>
          <a:p>
            <a:r>
              <a:rPr lang="en-GB" sz="2800" b="1" dirty="0"/>
              <a:t>OTHER STREAMS</a:t>
            </a:r>
          </a:p>
          <a:p>
            <a:r>
              <a:rPr lang="en-GB" sz="2800" dirty="0"/>
              <a:t>Pharmacy partnerships (referral fees)</a:t>
            </a:r>
          </a:p>
          <a:p>
            <a:r>
              <a:rPr lang="en-GB" sz="2800" dirty="0"/>
              <a:t>NGO/Government contracts</a:t>
            </a:r>
          </a:p>
          <a:p>
            <a:r>
              <a:rPr lang="en-GB" sz="2800" dirty="0"/>
              <a:t>Anonymized data insights (with consent)</a:t>
            </a:r>
          </a:p>
          <a:p>
            <a:br>
              <a:rPr lang="en-GB" sz="2800" dirty="0"/>
            </a:b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476581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B6738-8F80-FD85-5E75-B4059C1A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304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TRACTION &amp; ROADMAP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03E7B-7549-A57E-98BB-5A1737E4D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3430"/>
            <a:ext cx="10515600" cy="5233533"/>
          </a:xfrm>
        </p:spPr>
        <p:txBody>
          <a:bodyPr>
            <a:normAutofit fontScale="85000" lnSpcReduction="20000"/>
          </a:bodyPr>
          <a:lstStyle/>
          <a:p>
            <a:r>
              <a:rPr lang="en-CA" dirty="0"/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en-CA" dirty="0"/>
              <a:t>│                   8-MONTH ROADMAP                            │</a:t>
            </a:r>
          </a:p>
          <a:p>
            <a:r>
              <a:rPr lang="en-CA" dirty="0"/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r>
              <a:rPr lang="en-CA" dirty="0"/>
              <a:t>│                                                              │</a:t>
            </a:r>
          </a:p>
          <a:p>
            <a:r>
              <a:rPr lang="en-CA" dirty="0"/>
              <a:t>│  Month 1-2:  Research &amp; Requirements    [████████░░░░░░░░]  │</a:t>
            </a:r>
          </a:p>
          <a:p>
            <a:r>
              <a:rPr lang="en-CA" dirty="0"/>
              <a:t>│  Month 3:    Design &amp; Architecture      [░░░░████░░░░░░░░]  │</a:t>
            </a:r>
          </a:p>
          <a:p>
            <a:r>
              <a:rPr lang="en-CA" dirty="0"/>
              <a:t>│  Month 4-5:  Core Development           [░░░░░░████████░░]  │</a:t>
            </a:r>
          </a:p>
          <a:p>
            <a:r>
              <a:rPr lang="en-CA" dirty="0"/>
              <a:t>│  Month 6:    AI Integration &amp; Testing   [░░░░░░░░░░████░░]  │</a:t>
            </a:r>
          </a:p>
          <a:p>
            <a:r>
              <a:rPr lang="en-CA" dirty="0"/>
              <a:t>│  Month 7-8:  Pilot &amp; Documentation      [░░░░░░░░░░░░████]  │</a:t>
            </a:r>
          </a:p>
          <a:p>
            <a:r>
              <a:rPr lang="en-CA" dirty="0"/>
              <a:t>│                                                              │</a:t>
            </a:r>
          </a:p>
          <a:p>
            <a:r>
              <a:rPr lang="en-CA" dirty="0"/>
              <a:t>│  MILESTONES:                                                 │</a:t>
            </a:r>
          </a:p>
          <a:p>
            <a:r>
              <a:rPr lang="en-CA" dirty="0"/>
              <a:t>│  • Design Complete: Month 3                                  │</a:t>
            </a:r>
          </a:p>
          <a:p>
            <a:r>
              <a:rPr lang="en-CA" dirty="0"/>
              <a:t>│  • Prototype Ready: Month 5                                  │</a:t>
            </a:r>
          </a:p>
          <a:p>
            <a:r>
              <a:rPr lang="en-CA" dirty="0"/>
              <a:t>│  • Pilot Launch: Month 7                                     │</a:t>
            </a:r>
          </a:p>
          <a:p>
            <a:r>
              <a:rPr lang="en-CA" dirty="0"/>
              <a:t>│  • Final Submission: Month 8                                 │</a:t>
            </a:r>
          </a:p>
          <a:p>
            <a:r>
              <a:rPr lang="en-CA" dirty="0"/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234661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C95375-821C-D09F-57A7-372389F834F2}"/>
              </a:ext>
            </a:extLst>
          </p:cNvPr>
          <p:cNvSpPr txBox="1"/>
          <p:nvPr/>
        </p:nvSpPr>
        <p:spPr>
          <a:xfrm>
            <a:off x="0" y="-769257"/>
            <a:ext cx="11829143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CA" dirty="0"/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 latinLnBrk="1"/>
            <a:r>
              <a:rPr lang="en-CA" dirty="0"/>
              <a:t>│                    MEDASSISTAI PROJECT GANTT CHART                          │</a:t>
            </a:r>
          </a:p>
          <a:p>
            <a:pPr latinLnBrk="1"/>
            <a:r>
              <a:rPr lang="en-CA" dirty="0"/>
              <a:t>│                         (January - August 2026)                              │</a:t>
            </a:r>
          </a:p>
          <a:p>
            <a:pPr latinLnBrk="1"/>
            <a:r>
              <a:rPr lang="en-CA" dirty="0"/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 latinLnBrk="1"/>
            <a:r>
              <a:rPr lang="en-CA" dirty="0"/>
              <a:t>│ Task                                    Month1  Month2  Month3  Month4  Month5  Month6  Month7  Month8 │</a:t>
            </a:r>
          </a:p>
          <a:p>
            <a:pPr latinLnBrk="1"/>
            <a:r>
              <a:rPr lang="en-CA" dirty="0"/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 latinLnBrk="1"/>
            <a:r>
              <a:rPr lang="en-CA" dirty="0"/>
              <a:t>│ 1. Requirement Analysis                [████████] [████████]                │</a:t>
            </a:r>
          </a:p>
          <a:p>
            <a:pPr latinLnBrk="1"/>
            <a:r>
              <a:rPr lang="en-CA" dirty="0"/>
              <a:t>│ 2. Stakeholder Interviews              [████████] [████████]                │</a:t>
            </a:r>
          </a:p>
          <a:p>
            <a:pPr latinLnBrk="1"/>
            <a:r>
              <a:rPr lang="en-CA" dirty="0"/>
              <a:t>│ 3. System Design                                                   │</a:t>
            </a:r>
          </a:p>
          <a:p>
            <a:pPr latinLnBrk="1"/>
            <a:r>
              <a:rPr lang="en-CA" dirty="0"/>
              <a:t>│                                         [████████] [████████]                │</a:t>
            </a:r>
          </a:p>
          <a:p>
            <a:pPr latinLnBrk="1"/>
            <a:r>
              <a:rPr lang="en-CA" dirty="0"/>
              <a:t>│ 4. Architecture &amp; Dual-AI Design                                    │</a:t>
            </a:r>
          </a:p>
          <a:p>
            <a:pPr latinLnBrk="1"/>
            <a:r>
              <a:rPr lang="en-CA" dirty="0"/>
              <a:t>│                                         [████████]                           │</a:t>
            </a:r>
          </a:p>
          <a:p>
            <a:pPr latinLnBrk="1"/>
            <a:r>
              <a:rPr lang="en-CA" dirty="0"/>
              <a:t>│ 5. Frontend Development                                              │</a:t>
            </a:r>
          </a:p>
          <a:p>
            <a:pPr latinLnBrk="1"/>
            <a:r>
              <a:rPr lang="en-CA" dirty="0"/>
              <a:t>│                                                   [████████] [████████]      │</a:t>
            </a:r>
          </a:p>
          <a:p>
            <a:pPr latinLnBrk="1"/>
            <a:r>
              <a:rPr lang="en-CA" dirty="0"/>
              <a:t>│ 6. Backend Development                                                │</a:t>
            </a:r>
          </a:p>
          <a:p>
            <a:pPr latinLnBrk="1"/>
            <a:r>
              <a:rPr lang="en-CA" dirty="0"/>
              <a:t>│                                                   [████████] [████████]      │</a:t>
            </a:r>
          </a:p>
          <a:p>
            <a:pPr latinLnBrk="1"/>
            <a:r>
              <a:rPr lang="en-CA" dirty="0"/>
              <a:t>│ 7. Fadhili AI Development                                             │</a:t>
            </a:r>
          </a:p>
          <a:p>
            <a:pPr latinLnBrk="1"/>
            <a:r>
              <a:rPr lang="en-CA" dirty="0"/>
              <a:t>│                                                             [████████] [████████]│</a:t>
            </a:r>
          </a:p>
          <a:p>
            <a:pPr latinLnBrk="1"/>
            <a:r>
              <a:rPr lang="en-CA" dirty="0"/>
              <a:t>│ 8. Integration (Gemini, SMS, M-Pesa)                                │</a:t>
            </a:r>
          </a:p>
          <a:p>
            <a:pPr latinLnBrk="1"/>
            <a:r>
              <a:rPr lang="en-CA" dirty="0"/>
              <a:t>│                                                             [████████] [████████]│</a:t>
            </a:r>
          </a:p>
          <a:p>
            <a:pPr latinLnBrk="1"/>
            <a:r>
              <a:rPr lang="en-CA" dirty="0"/>
              <a:t>│ 9. Testing                                                          │</a:t>
            </a:r>
          </a:p>
          <a:p>
            <a:pPr latinLnBrk="1"/>
            <a:r>
              <a:rPr lang="en-CA" dirty="0"/>
              <a:t>│                                                                       [████████] [████████]│</a:t>
            </a:r>
          </a:p>
          <a:p>
            <a:pPr latinLnBrk="1"/>
            <a:r>
              <a:rPr lang="en-CA" dirty="0"/>
              <a:t>│10. Usability &amp; Failover Testing                                     │</a:t>
            </a:r>
          </a:p>
          <a:p>
            <a:pPr latinLnBrk="1"/>
            <a:r>
              <a:rPr lang="en-CA" dirty="0"/>
              <a:t>│                                                                                 [████████]│</a:t>
            </a:r>
          </a:p>
          <a:p>
            <a:pPr latinLnBrk="1"/>
            <a:r>
              <a:rPr lang="en-CA" dirty="0"/>
              <a:t>│11. Pilot User Evaluation                                            │</a:t>
            </a:r>
          </a:p>
          <a:p>
            <a:pPr latinLnBrk="1"/>
            <a:r>
              <a:rPr lang="en-CA" dirty="0"/>
              <a:t>│                                                                                 [████████] [████]│</a:t>
            </a:r>
          </a:p>
          <a:p>
            <a:pPr latinLnBrk="1"/>
            <a:r>
              <a:rPr lang="en-CA" dirty="0"/>
              <a:t>│12. Documentation &amp; Final Report                                     │</a:t>
            </a:r>
          </a:p>
          <a:p>
            <a:pPr latinLnBrk="1"/>
            <a:r>
              <a:rPr lang="en-CA" dirty="0"/>
              <a:t>│                                                                       [████████] [████████] [████]│</a:t>
            </a:r>
          </a:p>
          <a:p>
            <a:pPr latinLnBrk="1"/>
            <a:r>
              <a:rPr lang="en-CA" dirty="0"/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 latinLnBrk="1"/>
            <a:r>
              <a:rPr lang="en-CA" dirty="0"/>
              <a:t>│ MILESTONES:                         ↑           ↑           ↑           ↑           ↑           ↑</a:t>
            </a:r>
          </a:p>
          <a:p>
            <a:pPr latinLnBrk="1"/>
            <a:r>
              <a:rPr lang="en-CA" dirty="0"/>
              <a:t>│                                  Design      Prototype   AI          Testing    Pilot       Final</a:t>
            </a:r>
          </a:p>
          <a:p>
            <a:pPr latinLnBrk="1"/>
            <a:r>
              <a:rPr lang="en-CA" dirty="0"/>
              <a:t>│                                  Complete    Ready       Complete    </a:t>
            </a:r>
            <a:r>
              <a:rPr lang="en-CA" dirty="0" err="1"/>
              <a:t>Complete</a:t>
            </a:r>
            <a:r>
              <a:rPr lang="en-CA" dirty="0"/>
              <a:t>   Launch      Defense</a:t>
            </a:r>
          </a:p>
          <a:p>
            <a:pPr latinLnBrk="1"/>
            <a:r>
              <a:rPr lang="en-CA" dirty="0"/>
              <a:t>│                                  (Month 4)   (Month 5)   (Month 6)   (Month 7)  (Month 7)   (Month 8)</a:t>
            </a:r>
          </a:p>
          <a:p>
            <a:pPr latinLnBrk="1"/>
            <a:r>
              <a:rPr lang="en-CA" dirty="0"/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br>
              <a:rPr lang="en-CA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2230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70D7-BC3B-8D47-3455-F825F52F3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-171904"/>
            <a:ext cx="10515600" cy="1325563"/>
          </a:xfrm>
        </p:spPr>
        <p:txBody>
          <a:bodyPr>
            <a:normAutofit/>
          </a:bodyPr>
          <a:lstStyle/>
          <a:p>
            <a:r>
              <a:rPr lang="en-CA" sz="2000" b="1" dirty="0"/>
              <a:t>FINANCIAL PROJECTIONS</a:t>
            </a:r>
            <a:br>
              <a:rPr lang="en-CA" sz="2000" b="1" dirty="0"/>
            </a:br>
            <a:r>
              <a:rPr lang="en-CA" sz="2000" b="1" dirty="0"/>
              <a:t>Budget &amp; Sustainability</a:t>
            </a:r>
            <a:endParaRPr lang="en-CA" sz="20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0DB0F71-9F70-A93E-444F-58A3635512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1443680"/>
              </p:ext>
            </p:extLst>
          </p:nvPr>
        </p:nvGraphicFramePr>
        <p:xfrm>
          <a:off x="119500" y="1153659"/>
          <a:ext cx="5874900" cy="3022600"/>
        </p:xfrm>
        <a:graphic>
          <a:graphicData uri="http://schemas.openxmlformats.org/drawingml/2006/table">
            <a:tbl>
              <a:tblPr/>
              <a:tblGrid>
                <a:gridCol w="2937450">
                  <a:extLst>
                    <a:ext uri="{9D8B030D-6E8A-4147-A177-3AD203B41FA5}">
                      <a16:colId xmlns:a16="http://schemas.microsoft.com/office/drawing/2014/main" val="2347425759"/>
                    </a:ext>
                  </a:extLst>
                </a:gridCol>
                <a:gridCol w="2937450">
                  <a:extLst>
                    <a:ext uri="{9D8B030D-6E8A-4147-A177-3AD203B41FA5}">
                      <a16:colId xmlns:a16="http://schemas.microsoft.com/office/drawing/2014/main" val="2594016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Category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Cost (KES)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611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Internet &amp; Connectivity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 dirty="0">
                          <a:effectLst/>
                          <a:latin typeface="quote-cjk-patch"/>
                        </a:rPr>
                        <a:t>16,000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15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API Services (SMS, Gemini)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5,000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38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Domain &amp; Hosting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1,500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059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Printing &amp; Documentation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 dirty="0">
                          <a:effectLst/>
                          <a:latin typeface="quote-cjk-patch"/>
                        </a:rPr>
                        <a:t>9,500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747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Transport &amp; Miscellaneous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6,300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1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TOTAL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 dirty="0">
                          <a:effectLst/>
                          <a:latin typeface="quote-cjk-patch"/>
                        </a:rPr>
                        <a:t>KES 38,300</a:t>
                      </a:r>
                      <a:endParaRPr lang="en-CA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810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B8CA4E5-AE32-B307-D57D-1AA614270974}"/>
              </a:ext>
            </a:extLst>
          </p:cNvPr>
          <p:cNvSpPr txBox="1"/>
          <p:nvPr/>
        </p:nvSpPr>
        <p:spPr>
          <a:xfrm>
            <a:off x="119500" y="745428"/>
            <a:ext cx="4136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Development Budget (8 months):</a:t>
            </a:r>
            <a:endParaRPr lang="en-CA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135615A-E61C-B87B-25A7-70C387095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764702"/>
              </p:ext>
            </p:extLst>
          </p:nvPr>
        </p:nvGraphicFramePr>
        <p:xfrm>
          <a:off x="119500" y="4566000"/>
          <a:ext cx="7163286" cy="2590800"/>
        </p:xfrm>
        <a:graphic>
          <a:graphicData uri="http://schemas.openxmlformats.org/drawingml/2006/table">
            <a:tbl>
              <a:tblPr/>
              <a:tblGrid>
                <a:gridCol w="3581643">
                  <a:extLst>
                    <a:ext uri="{9D8B030D-6E8A-4147-A177-3AD203B41FA5}">
                      <a16:colId xmlns:a16="http://schemas.microsoft.com/office/drawing/2014/main" val="1433202967"/>
                    </a:ext>
                  </a:extLst>
                </a:gridCol>
                <a:gridCol w="3581643">
                  <a:extLst>
                    <a:ext uri="{9D8B030D-6E8A-4147-A177-3AD203B41FA5}">
                      <a16:colId xmlns:a16="http://schemas.microsoft.com/office/drawing/2014/main" val="39118369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Item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Cost (KES)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1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 dirty="0">
                          <a:effectLst/>
                          <a:latin typeface="quote-cjk-patch"/>
                        </a:rPr>
                        <a:t>Hosting &amp; Infrastructure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15,000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05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SMS Notifications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 dirty="0">
                          <a:effectLst/>
                          <a:latin typeface="quote-cjk-patch"/>
                        </a:rPr>
                        <a:t>25,000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263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AI API Calls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10,000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476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Maintenance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20,000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18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>
                          <a:effectLst/>
                          <a:latin typeface="quote-cjk-patch"/>
                        </a:rPr>
                        <a:t>Total</a:t>
                      </a:r>
                      <a:endParaRPr lang="en-CA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1" dirty="0">
                          <a:effectLst/>
                          <a:latin typeface="quote-cjk-patch"/>
                        </a:rPr>
                        <a:t>KES 70,000</a:t>
                      </a:r>
                      <a:endParaRPr lang="en-CA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558770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DDC3F555-07DD-44AB-9E78-00D72E442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43" y="456679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A66DFE-86ED-F82C-3CBB-F393A918A7BA}"/>
              </a:ext>
            </a:extLst>
          </p:cNvPr>
          <p:cNvSpPr txBox="1"/>
          <p:nvPr/>
        </p:nvSpPr>
        <p:spPr>
          <a:xfrm>
            <a:off x="119500" y="4281714"/>
            <a:ext cx="4136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Monthly Operational Costs (at scale):</a:t>
            </a:r>
            <a:endParaRPr lang="en-CA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304EAFA-E413-253B-BCE5-A9B2A9B00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635453"/>
              </p:ext>
            </p:extLst>
          </p:nvPr>
        </p:nvGraphicFramePr>
        <p:xfrm>
          <a:off x="6215743" y="1430519"/>
          <a:ext cx="5664201" cy="2745740"/>
        </p:xfrm>
        <a:graphic>
          <a:graphicData uri="http://schemas.openxmlformats.org/drawingml/2006/table">
            <a:tbl>
              <a:tblPr/>
              <a:tblGrid>
                <a:gridCol w="1210494">
                  <a:extLst>
                    <a:ext uri="{9D8B030D-6E8A-4147-A177-3AD203B41FA5}">
                      <a16:colId xmlns:a16="http://schemas.microsoft.com/office/drawing/2014/main" val="2905614503"/>
                    </a:ext>
                  </a:extLst>
                </a:gridCol>
                <a:gridCol w="1484569">
                  <a:extLst>
                    <a:ext uri="{9D8B030D-6E8A-4147-A177-3AD203B41FA5}">
                      <a16:colId xmlns:a16="http://schemas.microsoft.com/office/drawing/2014/main" val="546114622"/>
                    </a:ext>
                  </a:extLst>
                </a:gridCol>
                <a:gridCol w="1484569">
                  <a:extLst>
                    <a:ext uri="{9D8B030D-6E8A-4147-A177-3AD203B41FA5}">
                      <a16:colId xmlns:a16="http://schemas.microsoft.com/office/drawing/2014/main" val="2621300856"/>
                    </a:ext>
                  </a:extLst>
                </a:gridCol>
                <a:gridCol w="1484569">
                  <a:extLst>
                    <a:ext uri="{9D8B030D-6E8A-4147-A177-3AD203B41FA5}">
                      <a16:colId xmlns:a16="http://schemas.microsoft.com/office/drawing/2014/main" val="45196774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Year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Users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Premium (15%)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Revenue (KES)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08846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10,000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1,500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3.6M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05727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50,000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7,500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18M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09567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200,000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30,000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72M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59701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500,000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>
                          <a:effectLst/>
                          <a:latin typeface="quote-cjk-patch"/>
                        </a:rPr>
                        <a:t>75,000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b="0" dirty="0">
                          <a:effectLst/>
                          <a:latin typeface="quote-cjk-patch"/>
                        </a:rPr>
                        <a:t>180M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80990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3A690BC-7C36-53B1-F42B-39DD01B06492}"/>
              </a:ext>
            </a:extLst>
          </p:cNvPr>
          <p:cNvSpPr txBox="1"/>
          <p:nvPr/>
        </p:nvSpPr>
        <p:spPr>
          <a:xfrm>
            <a:off x="6215743" y="930094"/>
            <a:ext cx="3828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Revenue Projections: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31900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34C3D-DB2F-81E6-3AF0-447A79AE3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7389"/>
            <a:ext cx="10515600" cy="1325563"/>
          </a:xfrm>
        </p:spPr>
        <p:txBody>
          <a:bodyPr>
            <a:normAutofit/>
          </a:bodyPr>
          <a:lstStyle/>
          <a:p>
            <a:r>
              <a:rPr lang="en-CA" sz="2800" b="1" dirty="0"/>
              <a:t> </a:t>
            </a:r>
            <a:r>
              <a:rPr lang="en-CA" sz="4000" b="1" dirty="0"/>
              <a:t>RISK ANALYSIS</a:t>
            </a:r>
            <a:br>
              <a:rPr lang="en-CA" sz="2800" b="1" dirty="0"/>
            </a:br>
            <a:r>
              <a:rPr lang="en-GB" sz="2800" b="1" dirty="0"/>
              <a:t>What Could Go Wrong &amp; How We'll Handle It</a:t>
            </a:r>
            <a:endParaRPr lang="en-CA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1DC17B-AB74-EC35-BA4F-8DD4FFC244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7054388"/>
              </p:ext>
            </p:extLst>
          </p:nvPr>
        </p:nvGraphicFramePr>
        <p:xfrm>
          <a:off x="214640" y="975171"/>
          <a:ext cx="8809063" cy="5882828"/>
        </p:xfrm>
        <a:graphic>
          <a:graphicData uri="http://schemas.openxmlformats.org/drawingml/2006/table">
            <a:tbl>
              <a:tblPr/>
              <a:tblGrid>
                <a:gridCol w="1882582">
                  <a:extLst>
                    <a:ext uri="{9D8B030D-6E8A-4147-A177-3AD203B41FA5}">
                      <a16:colId xmlns:a16="http://schemas.microsoft.com/office/drawing/2014/main" val="2672704978"/>
                    </a:ext>
                  </a:extLst>
                </a:gridCol>
                <a:gridCol w="2308827">
                  <a:extLst>
                    <a:ext uri="{9D8B030D-6E8A-4147-A177-3AD203B41FA5}">
                      <a16:colId xmlns:a16="http://schemas.microsoft.com/office/drawing/2014/main" val="115331939"/>
                    </a:ext>
                  </a:extLst>
                </a:gridCol>
                <a:gridCol w="2308827">
                  <a:extLst>
                    <a:ext uri="{9D8B030D-6E8A-4147-A177-3AD203B41FA5}">
                      <a16:colId xmlns:a16="http://schemas.microsoft.com/office/drawing/2014/main" val="3625885083"/>
                    </a:ext>
                  </a:extLst>
                </a:gridCol>
                <a:gridCol w="2308827">
                  <a:extLst>
                    <a:ext uri="{9D8B030D-6E8A-4147-A177-3AD203B41FA5}">
                      <a16:colId xmlns:a16="http://schemas.microsoft.com/office/drawing/2014/main" val="167899541"/>
                    </a:ext>
                  </a:extLst>
                </a:gridCol>
              </a:tblGrid>
              <a:tr h="46851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Risk</a:t>
                      </a:r>
                    </a:p>
                  </a:txBody>
                  <a:tcPr marL="76601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Probability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Impact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Mitigation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626189"/>
                  </a:ext>
                </a:extLst>
              </a:tr>
              <a:tr h="7577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1">
                          <a:effectLst/>
                          <a:latin typeface="quote-cjk-patch"/>
                        </a:rPr>
                        <a:t>Technical Complexity</a:t>
                      </a:r>
                      <a:endParaRPr lang="en-CA" sz="1500" b="0">
                        <a:effectLst/>
                        <a:latin typeface="quote-cjk-patch"/>
                      </a:endParaRPr>
                    </a:p>
                  </a:txBody>
                  <a:tcPr marL="76601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Medium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High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0">
                          <a:effectLst/>
                          <a:latin typeface="quote-cjk-patch"/>
                        </a:rPr>
                        <a:t>Start with MVP, use proven technologies</a:t>
                      </a:r>
                    </a:p>
                  </a:txBody>
                  <a:tcPr marL="127668" marR="76601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396290"/>
                  </a:ext>
                </a:extLst>
              </a:tr>
              <a:tr h="7577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1">
                          <a:effectLst/>
                          <a:latin typeface="quote-cjk-patch"/>
                        </a:rPr>
                        <a:t>Data Privacy Concerns</a:t>
                      </a:r>
                      <a:endParaRPr lang="en-CA" sz="1500" b="0">
                        <a:effectLst/>
                        <a:latin typeface="quote-cjk-patch"/>
                      </a:endParaRPr>
                    </a:p>
                  </a:txBody>
                  <a:tcPr marL="76601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Medium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High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0">
                          <a:effectLst/>
                          <a:latin typeface="quote-cjk-patch"/>
                        </a:rPr>
                        <a:t>Built for Data Act compliance from day one</a:t>
                      </a:r>
                    </a:p>
                  </a:txBody>
                  <a:tcPr marL="127668" marR="76601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743832"/>
                  </a:ext>
                </a:extLst>
              </a:tr>
              <a:tr h="104700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1">
                          <a:effectLst/>
                          <a:latin typeface="quote-cjk-patch"/>
                        </a:rPr>
                        <a:t>User Adoption</a:t>
                      </a:r>
                      <a:endParaRPr lang="en-CA" sz="1500" b="0">
                        <a:effectLst/>
                        <a:latin typeface="quote-cjk-patch"/>
                      </a:endParaRPr>
                    </a:p>
                  </a:txBody>
                  <a:tcPr marL="76601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Medium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Medium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0">
                          <a:effectLst/>
                          <a:latin typeface="quote-cjk-patch"/>
                        </a:rPr>
                        <a:t>User-centered design, simple interface, local languages</a:t>
                      </a:r>
                    </a:p>
                  </a:txBody>
                  <a:tcPr marL="127668" marR="76601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003938"/>
                  </a:ext>
                </a:extLst>
              </a:tr>
              <a:tr h="75776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1">
                          <a:effectLst/>
                          <a:latin typeface="quote-cjk-patch"/>
                        </a:rPr>
                        <a:t>Internet Dependency</a:t>
                      </a:r>
                      <a:endParaRPr lang="en-CA" sz="1500" b="0">
                        <a:effectLst/>
                        <a:latin typeface="quote-cjk-patch"/>
                      </a:endParaRPr>
                    </a:p>
                  </a:txBody>
                  <a:tcPr marL="76601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High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Medium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SMS fallback, offline capabilities</a:t>
                      </a:r>
                    </a:p>
                  </a:txBody>
                  <a:tcPr marL="127668" marR="76601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423986"/>
                  </a:ext>
                </a:extLst>
              </a:tr>
              <a:tr h="104700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1">
                          <a:effectLst/>
                          <a:latin typeface="quote-cjk-patch"/>
                        </a:rPr>
                        <a:t>Fadhili AI Performance</a:t>
                      </a:r>
                      <a:endParaRPr lang="en-CA" sz="1500" b="0">
                        <a:effectLst/>
                        <a:latin typeface="quote-cjk-patch"/>
                      </a:endParaRPr>
                    </a:p>
                  </a:txBody>
                  <a:tcPr marL="76601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Medium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High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0">
                          <a:effectLst/>
                          <a:latin typeface="quote-cjk-patch"/>
                        </a:rPr>
                        <a:t>Dual-AI with Gemini backup; iterative improvement</a:t>
                      </a:r>
                    </a:p>
                  </a:txBody>
                  <a:tcPr marL="127668" marR="76601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351182"/>
                  </a:ext>
                </a:extLst>
              </a:tr>
              <a:tr h="104700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1">
                          <a:effectLst/>
                          <a:latin typeface="quote-cjk-patch"/>
                        </a:rPr>
                        <a:t>Competitor Response</a:t>
                      </a:r>
                      <a:endParaRPr lang="en-CA" sz="1500" b="0">
                        <a:effectLst/>
                        <a:latin typeface="quote-cjk-patch"/>
                      </a:endParaRPr>
                    </a:p>
                  </a:txBody>
                  <a:tcPr marL="76601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Low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500" b="0">
                          <a:effectLst/>
                          <a:latin typeface="quote-cjk-patch"/>
                        </a:rPr>
                        <a:t>Medium</a:t>
                      </a:r>
                    </a:p>
                  </a:txBody>
                  <a:tcPr marL="127668" marR="127668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500" b="0" dirty="0">
                          <a:effectLst/>
                          <a:latin typeface="quote-cjk-patch"/>
                        </a:rPr>
                        <a:t>Focus on deep local integration they cannot easily replicate</a:t>
                      </a:r>
                    </a:p>
                  </a:txBody>
                  <a:tcPr marL="127668" marR="76601" marT="79792" marB="79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8973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8108C9-5A18-F025-86F9-504C16C5EA1C}"/>
              </a:ext>
            </a:extLst>
          </p:cNvPr>
          <p:cNvSpPr txBox="1"/>
          <p:nvPr/>
        </p:nvSpPr>
        <p:spPr>
          <a:xfrm>
            <a:off x="9023703" y="4806999"/>
            <a:ext cx="31682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Strong stakeholder engagement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Iterative development with user feedback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Compliance-first approach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Focus on accessibility for all Kenyans</a:t>
            </a:r>
          </a:p>
          <a:p>
            <a:br>
              <a:rPr lang="en-GB" dirty="0"/>
            </a:b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24408-976A-74E1-22C2-33AE267842C3}"/>
              </a:ext>
            </a:extLst>
          </p:cNvPr>
          <p:cNvSpPr txBox="1"/>
          <p:nvPr/>
        </p:nvSpPr>
        <p:spPr>
          <a:xfrm>
            <a:off x="9023703" y="4437667"/>
            <a:ext cx="2674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Key Success Factors: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94161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DC47-7460-417C-D911-37ED3219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" y="205469"/>
            <a:ext cx="10515600" cy="578304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CONCLUSION 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7D5AA-5B38-8ABB-41C5-7C5AA8786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3773"/>
            <a:ext cx="5965371" cy="29028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4100" b="1" dirty="0" err="1"/>
              <a:t>MedAssistAI</a:t>
            </a:r>
            <a:r>
              <a:rPr lang="en-CA" sz="4100" b="1" dirty="0"/>
              <a:t> offers: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✓ A </a:t>
            </a:r>
            <a:r>
              <a:rPr lang="en-CA" b="1" dirty="0"/>
              <a:t>custom AI solution</a:t>
            </a:r>
            <a:r>
              <a:rPr lang="en-CA" dirty="0"/>
              <a:t> (Fadhili AI) built for Kenya</a:t>
            </a:r>
            <a:br>
              <a:rPr lang="en-CA" dirty="0"/>
            </a:br>
            <a:r>
              <a:rPr lang="en-CA" dirty="0"/>
              <a:t>✓ </a:t>
            </a:r>
            <a:r>
              <a:rPr lang="en-CA" b="1" dirty="0"/>
              <a:t>Dual-AI architecture</a:t>
            </a:r>
            <a:r>
              <a:rPr lang="en-CA" dirty="0"/>
              <a:t> for 99.5% reliability</a:t>
            </a:r>
            <a:br>
              <a:rPr lang="en-CA" dirty="0"/>
            </a:br>
            <a:r>
              <a:rPr lang="en-CA" dirty="0"/>
              <a:t>✓ </a:t>
            </a:r>
            <a:r>
              <a:rPr lang="en-CA" b="1" dirty="0"/>
              <a:t>Deep local integration</a:t>
            </a:r>
            <a:r>
              <a:rPr lang="en-CA" dirty="0"/>
              <a:t> (M-Pesa, Swahili, SMS)</a:t>
            </a:r>
            <a:br>
              <a:rPr lang="en-CA" dirty="0"/>
            </a:br>
            <a:r>
              <a:rPr lang="en-CA" dirty="0"/>
              <a:t>✓ </a:t>
            </a:r>
            <a:r>
              <a:rPr lang="en-CA" b="1" dirty="0"/>
              <a:t>Accessible design</a:t>
            </a:r>
            <a:r>
              <a:rPr lang="en-CA" dirty="0"/>
              <a:t> for users with basic phones</a:t>
            </a:r>
            <a:br>
              <a:rPr lang="en-CA" dirty="0"/>
            </a:br>
            <a:r>
              <a:rPr lang="en-CA" dirty="0"/>
              <a:t>✓ </a:t>
            </a:r>
            <a:r>
              <a:rPr lang="en-CA" b="1" dirty="0"/>
              <a:t>Compliant with Kenya's Data Protection Act</a:t>
            </a:r>
            <a:br>
              <a:rPr lang="en-CA" dirty="0"/>
            </a:br>
            <a:r>
              <a:rPr lang="en-CA" dirty="0"/>
              <a:t>✓ </a:t>
            </a:r>
            <a:r>
              <a:rPr lang="en-CA" b="1" dirty="0"/>
              <a:t>Sustainable freemium business model</a:t>
            </a:r>
            <a:endParaRPr lang="en-CA" dirty="0"/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082B6-A344-99BC-8E65-89D48D758A36}"/>
              </a:ext>
            </a:extLst>
          </p:cNvPr>
          <p:cNvSpPr txBox="1"/>
          <p:nvPr/>
        </p:nvSpPr>
        <p:spPr>
          <a:xfrm>
            <a:off x="156029" y="3800476"/>
            <a:ext cx="604157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Impact Potential</a:t>
            </a:r>
            <a:r>
              <a:rPr lang="en-GB" sz="2400" b="1" dirty="0"/>
              <a:t>:</a:t>
            </a:r>
          </a:p>
          <a:p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400" dirty="0"/>
              <a:t>Prevent </a:t>
            </a:r>
            <a:r>
              <a:rPr lang="en-GB" sz="2400" b="1" dirty="0"/>
              <a:t>15,000-20,000 deaths annually</a:t>
            </a: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400" dirty="0"/>
              <a:t>Save healthcare system </a:t>
            </a:r>
            <a:r>
              <a:rPr lang="en-GB" sz="2400" b="1" dirty="0"/>
              <a:t>KES 4-5 Billion yearly</a:t>
            </a: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400" dirty="0"/>
              <a:t>Support </a:t>
            </a:r>
            <a:r>
              <a:rPr lang="en-GB" sz="2400" b="1" dirty="0"/>
              <a:t>Universal Health Coverage</a:t>
            </a:r>
            <a:r>
              <a:rPr lang="en-GB" sz="2400" dirty="0"/>
              <a:t> goals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400" dirty="0"/>
              <a:t>Create model for AI health interventions across Africa</a:t>
            </a:r>
          </a:p>
          <a:p>
            <a:br>
              <a:rPr lang="en-GB" sz="2400" dirty="0"/>
            </a:br>
            <a:endParaRPr lang="en-CA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8BDD2-66C9-EC72-0D40-DEFA4609C0ED}"/>
              </a:ext>
            </a:extLst>
          </p:cNvPr>
          <p:cNvSpPr txBox="1"/>
          <p:nvPr/>
        </p:nvSpPr>
        <p:spPr>
          <a:xfrm>
            <a:off x="7605486" y="783772"/>
            <a:ext cx="443048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Next Steps:</a:t>
            </a:r>
            <a:endParaRPr lang="en-GB" b="1" dirty="0"/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/>
              <a:t>Secure ethical approval (in progress)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/>
              <a:t>Complete development (Month 5)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/>
              <a:t>Launch pilot with 50 users (Month 7)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dirty="0"/>
              <a:t>Final </a:t>
            </a:r>
            <a:r>
              <a:rPr lang="en-GB" sz="2000" dirty="0" err="1"/>
              <a:t>defense</a:t>
            </a:r>
            <a:r>
              <a:rPr lang="en-GB" sz="2000" dirty="0"/>
              <a:t> (Month 8)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br>
              <a:rPr lang="en-GB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35029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032E4-5B00-8BFD-8383-EC2038CCC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2800"/>
            <a:ext cx="10515600" cy="5364163"/>
          </a:xfrm>
        </p:spPr>
        <p:txBody>
          <a:bodyPr>
            <a:normAutofit lnSpcReduction="10000"/>
          </a:bodyPr>
          <a:lstStyle/>
          <a:p>
            <a:endParaRPr lang="en-CA" b="1" dirty="0"/>
          </a:p>
          <a:p>
            <a:endParaRPr lang="en-CA" b="1" dirty="0"/>
          </a:p>
          <a:p>
            <a:endParaRPr lang="en-CA" b="1" dirty="0"/>
          </a:p>
          <a:p>
            <a:endParaRPr lang="en-CA" b="1" dirty="0"/>
          </a:p>
          <a:p>
            <a:pPr marL="0" indent="0" algn="ctr">
              <a:buNone/>
            </a:pPr>
            <a:r>
              <a:rPr lang="en-CA" sz="4800" b="1" dirty="0"/>
              <a:t>To a healthier society that adheres </a:t>
            </a:r>
            <a:r>
              <a:rPr lang="en-CA" sz="4800" b="1"/>
              <a:t>to medication.</a:t>
            </a:r>
            <a:endParaRPr lang="en-CA" sz="4800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sz="2000" b="1" dirty="0"/>
              <a:t>Contact:</a:t>
            </a:r>
            <a:r>
              <a:rPr lang="en-CA" sz="2000" dirty="0"/>
              <a:t> Dylan Fadhili Mada</a:t>
            </a:r>
          </a:p>
          <a:p>
            <a:pPr marL="0" indent="0">
              <a:buNone/>
            </a:pPr>
            <a:r>
              <a:rPr lang="en-CA" sz="2000" b="1" dirty="0"/>
              <a:t>Email</a:t>
            </a:r>
            <a:r>
              <a:rPr lang="en-CA" sz="2000" dirty="0"/>
              <a:t>: dylan.mada@students.jkuat.ac.ke</a:t>
            </a:r>
            <a:br>
              <a:rPr lang="en-CA" sz="2000" dirty="0"/>
            </a:br>
            <a:r>
              <a:rPr lang="en-CA" sz="2000" b="1" dirty="0"/>
              <a:t>Supervisor:</a:t>
            </a:r>
            <a:r>
              <a:rPr lang="en-CA" sz="2000" dirty="0"/>
              <a:t> Lecturer Dennis Kaburu</a:t>
            </a:r>
            <a:br>
              <a:rPr lang="en-CA" sz="2000" dirty="0"/>
            </a:br>
            <a:r>
              <a:rPr lang="en-CA" sz="2000" b="1" dirty="0"/>
              <a:t>Department of Information Technology, JKUAT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98713566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1140</TotalTime>
  <Words>1790</Words>
  <Application>Microsoft Office PowerPoint</Application>
  <PresentationFormat>Widescreen</PresentationFormat>
  <Paragraphs>396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Century Gothic</vt:lpstr>
      <vt:lpstr>quote-cjk-patch</vt:lpstr>
      <vt:lpstr>Wingdings</vt:lpstr>
      <vt:lpstr>Wingdings 3</vt:lpstr>
      <vt:lpstr>Wisp</vt:lpstr>
      <vt:lpstr>MedAssistAI: An AI-Powered Healthcare Management System for Medication Adherence in Kenya</vt:lpstr>
      <vt:lpstr>AGENDA / PRESENTATION OUTLINE </vt:lpstr>
      <vt:lpstr>THE PROBLEM Medication Non-Adherence in Kenya </vt:lpstr>
      <vt:lpstr>PowerPoint Presentation</vt:lpstr>
      <vt:lpstr>GAPS IN CURRENT SOLUTIONS </vt:lpstr>
      <vt:lpstr>OUR SOLUTION - MEDASSISTAI An AI-Powered Healthcare Management System Showing Dual AI Architecture: </vt:lpstr>
      <vt:lpstr>PowerPoint Presentation</vt:lpstr>
      <vt:lpstr>TARGET MARKET Who Will Use MedAssistAI? </vt:lpstr>
      <vt:lpstr>MARKET SIZE Total Addressable Market </vt:lpstr>
      <vt:lpstr> COMPETITOR ANALYSIS </vt:lpstr>
      <vt:lpstr>COMPETITIVE ADVANTAGE </vt:lpstr>
      <vt:lpstr>BUSINESS / REVENUE MODEL </vt:lpstr>
      <vt:lpstr>TRACTION &amp; ROADMAP </vt:lpstr>
      <vt:lpstr>PowerPoint Presentation</vt:lpstr>
      <vt:lpstr>FINANCIAL PROJECTIONS Budget &amp; Sustainability</vt:lpstr>
      <vt:lpstr> RISK ANALYSIS What Could Go Wrong &amp; How We'll Handle It</vt:lpstr>
      <vt:lpstr>CONCLUSION 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fadhilidylan@gmail.com</dc:creator>
  <cp:lastModifiedBy>fadhilidylan@gmail.com</cp:lastModifiedBy>
  <cp:revision>3</cp:revision>
  <dcterms:created xsi:type="dcterms:W3CDTF">2026-03-08T13:41:31Z</dcterms:created>
  <dcterms:modified xsi:type="dcterms:W3CDTF">2026-04-13T05:38:32Z</dcterms:modified>
</cp:coreProperties>
</file>